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0E6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Many conversations · one topic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Across Representations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423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6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 modelling for boundary-crossing and AI-native operations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i="1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multiple discussions and problem contexts point at the same need: a semantic model for network information — meaning made explicit and independent of form, supporting bridging of model and system boundaries and consumption by machines.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429768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4F8F9"/>
          </a:solidFill>
          <a:ln w="19050">
            <a:solidFill>
              <a:srgbClr val="0E6E7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4531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6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SYNOPSIS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48006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takes, one requirement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97680" y="429768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4F8F9"/>
          </a:solidFill>
          <a:ln w="19050">
            <a:solidFill>
              <a:srgbClr val="C98A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44531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THEORY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6280" y="48006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· meaning · use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0" y="429768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4F8F9"/>
          </a:solidFill>
          <a:ln w="19050">
            <a:solidFill>
              <a:srgbClr val="C15B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83880" y="44531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15B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TOPIC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83880" y="48006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 semantic models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Many conversations: do they point at a common problem?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Ontology reconciliation, reference lexicons, NAIM, AI-consumable YANG, knowledge graphs and annotation, multi-vendor normalisation, the ONSEN YANG↔TMF bridge — separate threads, separate communities. Analysed separately, a common problem emerges.</a:t>
            </a:r>
            <a:endParaRPr lang="en-US" sz="1350" dirty="0"/>
          </a:p>
        </p:txBody>
      </p:sp>
      <p:pic>
        <p:nvPicPr>
          <p:cNvPr id="4" name="Image 0" descr="co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5448" y="2286000"/>
            <a:ext cx="6400800" cy="372334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234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i="1" dirty="0">
                <a:solidFill>
                  <a:srgbClr val="0E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— </a:t>
            </a:r>
            <a:pPr algn="ctr"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are moving to machine-driven automation, and machines need meaning and context around data for reliable comprehension.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810512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i="1" dirty="0">
                <a:solidFill>
                  <a:srgbClr val="0E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— </a:t>
            </a:r>
            <a:pPr algn="ctr"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automation is targeted across multiple network and other technology domains and across consumer–provider boundaries, crossing ontological spaces, while leveraging focused abstraction (intent).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566160" cy="2651760"/>
          </a:xfrm>
          <a:prstGeom prst="roundRect">
            <a:avLst>
              <a:gd name="adj" fmla="val 2069"/>
            </a:avLst>
          </a:prstGeom>
          <a:solidFill>
            <a:srgbClr val="F4F8F9"/>
          </a:solidFill>
          <a:ln w="17780">
            <a:solidFill>
              <a:srgbClr val="0E6E7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807208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Machines now consume meaning, not just form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04672" y="3840480"/>
            <a:ext cx="310896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has always been consumed as a grammar — validate, encode, transport. Agents are now asked to reason over what it means, the layer models carry least.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2606040"/>
            <a:ext cx="3566160" cy="2651760"/>
          </a:xfrm>
          <a:prstGeom prst="roundRect">
            <a:avLst>
              <a:gd name="adj" fmla="val 2069"/>
            </a:avLst>
          </a:prstGeom>
          <a:solidFill>
            <a:srgbClr val="F4F8F9"/>
          </a:solidFill>
          <a:ln w="17780">
            <a:solidFill>
              <a:srgbClr val="C98A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2807208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C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Autonomy spans spheres — different ontologies, not just grammars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99432" y="3840480"/>
            <a:ext cx="310896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operations stack bridges models of different provenance and spheres — often different ontologies, not just grammars — so bridging is reconciliation at the semantic level.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38160" y="2606040"/>
            <a:ext cx="3566160" cy="2651760"/>
          </a:xfrm>
          <a:prstGeom prst="roundRect">
            <a:avLst>
              <a:gd name="adj" fmla="val 2069"/>
            </a:avLst>
          </a:prstGeom>
          <a:solidFill>
            <a:srgbClr val="F4F8F9"/>
          </a:solidFill>
          <a:ln w="17780">
            <a:solidFill>
              <a:srgbClr val="0F29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94192" y="2807208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Cognitive agents can automate the bridging itself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394192" y="3840480"/>
            <a:ext cx="310896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that converse and reason can perform that semantic reconciliation at runtime, with the right information support — not a model agreed and frozen in advance.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these drivers turns on one thing in common: </a:t>
            </a:r>
            <a:pPr algn="ctr" indent="0" marL="0">
              <a:lnSpc>
                <a:spcPts val="1700"/>
              </a:lnSpc>
              <a:buNone/>
            </a:pPr>
            <a:r>
              <a:rPr lang="en-US" sz="1300" b="1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sufficient semantic model — shared meaning, with provenance — so agent actions are trusted, repeatable, and traceable.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shared workflow, a common requirement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6035040" cy="3246120"/>
          </a:xfrm>
          <a:prstGeom prst="roundRect">
            <a:avLst>
              <a:gd name="adj" fmla="val 1690"/>
            </a:avLst>
          </a:prstGeom>
          <a:solidFill>
            <a:srgbClr val="F4F8F9"/>
          </a:solidFill>
          <a:ln w="19050">
            <a:solidFill>
              <a:srgbClr val="0E6E7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83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6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common workflow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 cases point at a common workflow: make models' meanings explicit — create their semantic representations — bridge semantic gaps, and create new representations as needed. The cases make greater or lesser use of machine cognition and communication to automate the workflow.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600200"/>
            <a:ext cx="4754880" cy="3246120"/>
          </a:xfrm>
          <a:prstGeom prst="roundRect">
            <a:avLst>
              <a:gd name="adj" fmla="val 1690"/>
            </a:avLst>
          </a:prstGeom>
          <a:solidFill>
            <a:srgbClr val="F4F8F9"/>
          </a:solidFill>
          <a:ln w="19050">
            <a:solidFill>
              <a:srgbClr val="C98A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78040" y="17830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common requirement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78040" y="2423160"/>
            <a:ext cx="42062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requirement: a complete (sufficient) semantic representation or model.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few slides set up the theory behind that common requirement — what a model's meaning is, where it leaks, and why each case is a take on the same problem.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Form, meaning, use</a:t>
            </a:r>
            <a:endParaRPr lang="en-US" sz="2400" dirty="0"/>
          </a:p>
        </p:txBody>
      </p:sp>
      <p:pic>
        <p:nvPicPr>
          <p:cNvPr id="3" name="Image 0" descr="t1_tri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1008" y="1234440"/>
            <a:ext cx="8869680" cy="449426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742432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Machines have long consumed the form; the new demand is the two layers above it — semantics and pragmatics.</a:t>
            </a:r>
            <a:pPr algn="ctr"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 referring to a semantic model, we use “semantic” in a broad sense — as on the semantic web: meaning and use together; everything above the form.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548640" y="6437376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C. W. Morris, Foundations of the Theory of Signs (1938), International Encyclopedia of Unified Science, Univ. of Chicago Press.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semantic model: meaning made form-independent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E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semantic model</a:t>
            </a:r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captures meaning in the broad sense — its semantics and its pragmatics both (ontology, lexicon, and use), and not its form. Because it is form-independent, it can support bridging between forms, can support semantic evolution, and is needed to support machine reasoning.</a:t>
            </a:r>
            <a:endParaRPr lang="en-US" sz="1350" dirty="0"/>
          </a:p>
        </p:txBody>
      </p:sp>
      <p:pic>
        <p:nvPicPr>
          <p:cNvPr id="4" name="Image 0" descr="B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2568" y="2423160"/>
            <a:ext cx="6766560" cy="351590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every case, a semantic model is the bridge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permutations are the cases under discussion across IETF and IRTF. In each, a converged or bridged semantic model is the necessary bridge between representations — or what a reasoning agent consumes directly.</a:t>
            </a:r>
            <a:endParaRPr lang="en-US" sz="1300" dirty="0"/>
          </a:p>
        </p:txBody>
      </p:sp>
      <p:pic>
        <p:nvPicPr>
          <p:cNvPr id="4" name="Image 0" descr="pe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8168" y="2057400"/>
            <a:ext cx="8595360" cy="44283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common workflow up close: authoring vs. reconciliation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the cases from the previous slide, in depth. NAIM (YANG model generation) vs. the NMRG ontology-reconciliation draft (data-model translation on similar-but-not-identical ontologies). Similar workflows: what differs is how much machine communication and cognition automate.</a:t>
            </a:r>
            <a:endParaRPr lang="en-US" sz="1250" dirty="0"/>
          </a:p>
        </p:txBody>
      </p:sp>
      <p:pic>
        <p:nvPicPr>
          <p:cNvPr id="4" name="Image 0" descr="A_op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1208" y="2103120"/>
            <a:ext cx="5669280" cy="378197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workflows, same role of semantic model — what differs is where communication and cognition sit.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common workflow up close: the TMF↔YANG bridge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of the cases, in more detail. TMF and the IETF model “a service” in two differently-abstracted ontologies — so a faithful bridge needs a semantic model between them, not a projection that distorts or drops what one side has and the other lacks.</a:t>
            </a:r>
            <a:endParaRPr lang="en-US" sz="1250" dirty="0"/>
          </a:p>
        </p:txBody>
      </p:sp>
      <p:pic>
        <p:nvPicPr>
          <p:cNvPr id="4" name="Image 0" descr="b_ons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8248" y="2011680"/>
            <a:ext cx="7315200" cy="371977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in the previous case, automation varies: the draft's projection is deterministic; the semantic reconciliation it defers is where cognition would do more.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takes a semantic model: reconciliation is cross-layer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systems' representations can differ at every layer, and no layer reconciles alone — which is exactly why the bridging construct must be a semantic model, built case by case.</a:t>
            </a:r>
            <a:endParaRPr lang="en-US" sz="1250" dirty="0"/>
          </a:p>
        </p:txBody>
      </p:sp>
      <p:pic>
        <p:nvPicPr>
          <p:cNvPr id="4" name="Image 0" descr="b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2508" y="1645920"/>
            <a:ext cx="7726680" cy="471250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Practical semantic models are ad hoc, not universal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proposing — and could not pre-agree — a universal semantic model: independently-built, evolving systems differ in scope and ontology, so meaning can't be settled in full in advance.</a:t>
            </a:r>
            <a:endParaRPr lang="en-US" sz="1300" dirty="0"/>
          </a:p>
        </p:txBody>
      </p:sp>
      <p:pic>
        <p:nvPicPr>
          <p:cNvPr id="4" name="Image 0" descr="b_adh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5408" y="1828800"/>
            <a:ext cx="7040880" cy="40632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semantic model is built for the bridge at hand; only thin supports are standardized, and useful pieces are published for reuse.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after draft-janz-nmrg-reference-lexicons.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research: a process, its supports, its reuse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practical, useful semantic models are ad hoc artefacts, the work is not to define a semantic model but to work out how to support maximally automated ad hoc semantic-model creation, reconciliation across systems, and use. Three aspects — and two recent NMRG drafts together point to all three.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3566160" cy="3063240"/>
          </a:xfrm>
          <a:prstGeom prst="roundRect">
            <a:avLst>
              <a:gd name="adj" fmla="val 1791"/>
            </a:avLst>
          </a:prstGeom>
          <a:solidFill>
            <a:srgbClr val="F4F8F9"/>
          </a:solidFill>
          <a:ln w="19050">
            <a:solidFill>
              <a:srgbClr val="0E6E7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68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50" kern="0" dirty="0">
                <a:solidFill>
                  <a:srgbClr val="0E6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 THE PROCESS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04672" y="2889504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i="1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&amp; reconcile, per case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04672" y="3456432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make each ontology explicit, converse to resolve their differences, and generate a translator for ordinary operation — cognition spent once, at negotiation.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04672" y="502920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draft-janz-nmrg-ontology-reconciliation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343400" y="2286000"/>
            <a:ext cx="3566160" cy="3063240"/>
          </a:xfrm>
          <a:prstGeom prst="roundRect">
            <a:avLst>
              <a:gd name="adj" fmla="val 1791"/>
            </a:avLst>
          </a:prstGeom>
          <a:solidFill>
            <a:srgbClr val="F4F8F9"/>
          </a:solidFill>
          <a:ln w="19050">
            <a:solidFill>
              <a:srgbClr val="C98A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2468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50" kern="0" dirty="0">
                <a:solidFill>
                  <a:srgbClr val="C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STANDARDIZE THIN SUPPORTS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99432" y="2889504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i="1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supports, not machine-consumed models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99432" y="3456432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reference lexicon — identifiers, names, definitions, examples; identity fixed, axioms none — with provenance conventions. Broad but shallow, easily extended.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99432" y="502920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draft-janz-nmrg-reference-lexicons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8138160" y="2286000"/>
            <a:ext cx="3566160" cy="3063240"/>
          </a:xfrm>
          <a:prstGeom prst="roundRect">
            <a:avLst>
              <a:gd name="adj" fmla="val 1791"/>
            </a:avLst>
          </a:prstGeom>
          <a:solidFill>
            <a:srgbClr val="F4F8F9"/>
          </a:solidFill>
          <a:ln w="19050">
            <a:solidFill>
              <a:srgbClr val="C15B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94192" y="2468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50" kern="0" dirty="0">
                <a:solidFill>
                  <a:srgbClr val="C15B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 &amp; REUSE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394192" y="2889504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i="1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commons, bottom-up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94192" y="3456432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Correspondences settled per case, contributed back rather than kept private, become standing infrastructure — the next similar pair reuses a settled correspondence.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394192" y="502920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draft-janz-nmrg-reference-lexicons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48640" y="5486400"/>
            <a:ext cx="11064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has two levers: thin shared references — bind N to a reference, not N² pairwise bridges — and a growing commons of published correspondences, where each settled ad hoc case spares the next.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landscape: the field is already working these — 1 of 2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2014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3017520"/>
                <a:gridCol w="3429000"/>
                <a:gridCol w="2423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 CONVERSATION / TAKE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WHAT IT IS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ELEMENT OF THE COMMON TOPIC — AND HOW IT LINKS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DRAFTS &amp; STANDARDS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E6E7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AI-consumable YANG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0E6E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bridging: LIFT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must present their meaning, not just their form, for agents to reason over them.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object itself — the semantic model everything else transforms. It sets the whole problem.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draft-mw-nmop-yang-ai-challenges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draft-ietf-netmod-yang2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98A2B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NAIM — canonical AI format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C98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bridging: AUTHOR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and validate YANG from language, through a canonical intermediate form.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form↔meaning lift, at the human↔machine locus of the one workflow.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draft-feng-netmod-naim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draft-feng-netconf-naim-op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E478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Ontology reconciliation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5E47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bridging: RECONCILE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make each ontology explicit, converse to resolve differences, and generate a translator.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same workflow at the machine↔machine locus — differing ontologies reconciled at runtime.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draft-janz-nmrg-ontology-reconciliation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draft-cui-nmop-agent-sketch-com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6B4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Normalising multi-vendor inputs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25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bridging: NORMALISE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Many vendor shapes lifted into one AI-ready shape for LLM-assisted operation.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Alignment to a shared reference — the lexicon seam that makes matching a lookup.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draft-prabhu-nmrg-prompt-schema-llm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02920" y="603504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continues →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landscape: the field is already working these — 2 of 2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2014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3017520"/>
                <a:gridCol w="3429000"/>
                <a:gridCol w="2423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 CONVERSATION / TAKE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WHAT IT IS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ELEMENT OF THE COMMON TOPIC — AND HOW IT LINKS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DRAFTS &amp; STANDARDS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4FA3A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Semantic annotation · knowledge graphs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4FA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bridging: OBSERVE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laid over raw operational state and telemetry, as graphs and annotations.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Lifting form to ontology + lexicon — the “observe” bridging of the model.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draft-ietf-nmop-network-anomaly-semantics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draft-mackey-nmop-for-netops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15B5B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ONSEN — YANG→TMF bridge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C1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bridging: BRIDGE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an authoritative YANG subtree into a TMF ServiceSpecification and back.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cross-system transform; correspondence and provenance across two schema worlds.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draft-lambrechts-onsen-yang-tmf-mapping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TMF633 / 634 / 641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942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Modelling boundaries · UML→YANG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0E6E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bridging: LIFT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one model's meaning stops, and disciplined translation to another begins.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joints between representations — lifting and boundary-crossing, made explicit.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draft-davis-netmod-modelling-boundaries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draft-mansfield-netmod-uml-to-yang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E6E7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Reference lexicons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0E6E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role: thin support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thin shared naming reference — stable identifiers, definitions, examples; axioms none.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standardizable support reconciliation consults — broad but shallow, published for reuse.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draft-janz-nmrg-reference-lexicons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02920" y="5532120"/>
            <a:ext cx="11201400" cy="731520"/>
          </a:xfrm>
          <a:prstGeom prst="roundRect">
            <a:avLst>
              <a:gd name="adj" fmla="val 6250"/>
            </a:avLst>
          </a:prstGeom>
          <a:solidFill>
            <a:srgbClr val="F4F8F9"/>
          </a:solidFill>
          <a:ln w="15240">
            <a:solidFill>
              <a:srgbClr val="0E6E7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532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E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element: </a:t>
            </a:r>
            <a:pPr indent="0" marL="0">
              <a:buNone/>
            </a:pPr>
            <a:r>
              <a:rPr lang="en-US" sz="1250" i="1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works the same object — a semantic model. Our reconciliation + reference-lexicon pair points to the whole shape: the process, the thin support, and the published reuse.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research activity: what it takes on, and the outcomes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109960" cy="1097280"/>
          </a:xfrm>
          <a:prstGeom prst="roundRect">
            <a:avLst>
              <a:gd name="adj" fmla="val 4167"/>
            </a:avLst>
          </a:prstGeom>
          <a:solidFill>
            <a:srgbClr val="F4F8F9"/>
          </a:solidFill>
          <a:ln w="16510">
            <a:solidFill>
              <a:srgbClr val="0E6E7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481328"/>
            <a:ext cx="104698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E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— 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and support the making of semantic models per case: the process that generates and reconciles them, the thin supports worth standardizing, and the reusable pieces worth publishing — for AI-native network operations. Not a universal model.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5486400" cy="2880360"/>
          </a:xfrm>
          <a:prstGeom prst="roundRect">
            <a:avLst>
              <a:gd name="adj" fmla="val 1587"/>
            </a:avLst>
          </a:prstGeom>
          <a:solidFill>
            <a:srgbClr val="FFFFFF"/>
          </a:solidFill>
          <a:ln w="17780">
            <a:solidFill>
              <a:srgbClr val="0E6E7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90779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activity takes 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41248" y="3429000"/>
            <a:ext cx="493776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500"/>
              </a:lnSpc>
              <a:spcAft>
                <a:spcPts val="700"/>
              </a:spcAft>
              <a:buSzPct val="100000"/>
              <a:buChar char="–"/>
            </a:pPr>
            <a:r>
              <a:rPr lang="en-US" sz="110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semantic models are generated &amp; reconciled per case — and how cognitive AI carries it</a:t>
            </a:r>
            <a:endParaRPr lang="en-US" sz="1100" dirty="0"/>
          </a:p>
          <a:p>
            <a:pPr marL="177800" indent="-177800">
              <a:lnSpc>
                <a:spcPts val="1500"/>
              </a:lnSpc>
              <a:spcAft>
                <a:spcPts val="700"/>
              </a:spcAft>
              <a:buSzPct val="100000"/>
              <a:buChar char="–"/>
            </a:pPr>
            <a:r>
              <a:rPr lang="en-US" sz="110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minimal supports are worth standardizing — references, provenance — thin and easily evolved</a:t>
            </a:r>
            <a:endParaRPr lang="en-US" sz="1100" dirty="0"/>
          </a:p>
          <a:p>
            <a:pPr marL="177800" indent="-177800">
              <a:lnSpc>
                <a:spcPts val="1500"/>
              </a:lnSpc>
              <a:spcAft>
                <a:spcPts val="700"/>
              </a:spcAft>
              <a:buSzPct val="100000"/>
              <a:buChar char="–"/>
            </a:pPr>
            <a:r>
              <a:rPr lang="en-US" sz="110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reusable pieces get published, found, and reused — the reference commons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63640" y="2743200"/>
            <a:ext cx="5486400" cy="2880360"/>
          </a:xfrm>
          <a:prstGeom prst="roundRect">
            <a:avLst>
              <a:gd name="adj" fmla="val 1587"/>
            </a:avLst>
          </a:prstGeom>
          <a:solidFill>
            <a:srgbClr val="FFFFFF"/>
          </a:solidFill>
          <a:ln w="17780">
            <a:solidFill>
              <a:srgbClr val="C98A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290779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Anticipated outcomes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56248" y="3429000"/>
            <a:ext cx="493776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500"/>
              </a:lnSpc>
              <a:spcAft>
                <a:spcPts val="700"/>
              </a:spcAft>
              <a:buSzPct val="100000"/>
              <a:buChar char="–"/>
            </a:pPr>
            <a:r>
              <a:rPr lang="en-US" sz="110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framework &amp; vocabulary for the generation / reconciliation process</a:t>
            </a:r>
            <a:endParaRPr lang="en-US" sz="1100" dirty="0"/>
          </a:p>
          <a:p>
            <a:pPr marL="177800" indent="-177800">
              <a:lnSpc>
                <a:spcPts val="1500"/>
              </a:lnSpc>
              <a:spcAft>
                <a:spcPts val="700"/>
              </a:spcAft>
              <a:buSzPct val="100000"/>
              <a:buChar char="–"/>
            </a:pPr>
            <a:r>
              <a:rPr lang="en-US" sz="110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set of thin standardizable supports — reference lexicon, bindings, provenance conventions</a:t>
            </a:r>
            <a:endParaRPr lang="en-US" sz="1100" dirty="0"/>
          </a:p>
          <a:p>
            <a:pPr marL="177800" indent="-177800">
              <a:lnSpc>
                <a:spcPts val="1500"/>
              </a:lnSpc>
              <a:spcAft>
                <a:spcPts val="700"/>
              </a:spcAft>
              <a:buSzPct val="100000"/>
              <a:buChar char="–"/>
            </a:pPr>
            <a:r>
              <a:rPr lang="en-US" sz="110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publish-and-reuse pattern for correspondences</a:t>
            </a:r>
            <a:endParaRPr lang="en-US" sz="1100" dirty="0"/>
          </a:p>
          <a:p>
            <a:pPr marL="177800" indent="-177800">
              <a:lnSpc>
                <a:spcPts val="1500"/>
              </a:lnSpc>
              <a:spcAft>
                <a:spcPts val="700"/>
              </a:spcAft>
              <a:buSzPct val="100000"/>
              <a:buChar char="–"/>
            </a:pPr>
            <a:r>
              <a:rPr lang="en-US" sz="110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Demonstrations across the cases — NAIM, ONSEN, reconciliation, normalisation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Genuinely new · network-specific · a process to support, not a model to mandate.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2026-08-01T09:26:50Z</dcterms:created>
  <dcterms:modified xsi:type="dcterms:W3CDTF">2026-08-01T09:26:50Z</dcterms:modified>
</cp:coreProperties>
</file>